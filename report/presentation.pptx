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8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dirty="0" err="1">
                <a:solidFill>
                  <a:srgbClr val="141820"/>
                </a:solidFill>
                <a:latin typeface="Leelawadee UI"/>
              </a:rPr>
              <a:t>ระบบติดตามการเคลื่อนไหวท่าออกกำลังกายแบบเรียลไทม์</a:t>
            </a:r>
            <a:endParaRPr sz="26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5082684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รายวิชา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Computer Animation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 2110512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2436876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687484"/>
                </a:solidFill>
                <a:latin typeface="Leelawadee UI"/>
              </a:rPr>
              <a:t>Department of Computer Engineering, Faculty of Engineering, Chulalongkorn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4508992"/>
            <a:ext cx="5257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ผู้จัดทำ: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Thipbadee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 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Ngamsukkasemsri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6633109021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Jednipit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 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Porapakpenjul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	6630368721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323A46"/>
                </a:solidFill>
                <a:latin typeface="Leelawadee UI"/>
              </a:rPr>
              <a:t>GitHub: </a:t>
            </a:r>
            <a:r>
              <a:rPr sz="1400" b="0" dirty="0" err="1">
                <a:solidFill>
                  <a:srgbClr val="323A46"/>
                </a:solidFill>
                <a:latin typeface="Leelawadee UI"/>
              </a:rPr>
              <a:t>thipbadee</a:t>
            </a:r>
            <a:endParaRPr sz="14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200" dirty="0">
                <a:solidFill>
                  <a:srgbClr val="687484"/>
                </a:solidFill>
                <a:latin typeface="Leelawadee UI"/>
              </a:rPr>
              <a:t>อาจารย์ผู้สอน: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Pizzanu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Kanongchaiyos</a:t>
            </a:r>
            <a:endParaRPr lang="en-US" sz="1200" dirty="0">
              <a:solidFill>
                <a:srgbClr val="687484"/>
              </a:solidFill>
              <a:latin typeface="Leelawade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49039" y="5669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 err="1">
                <a:solidFill>
                  <a:srgbClr val="687484"/>
                </a:solidFill>
                <a:latin typeface="Leelawadee UI"/>
              </a:rPr>
              <a:t>ภาคการศึกษา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: 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Second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 Semester, Academic Year 2568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687484"/>
                </a:solidFill>
                <a:latin typeface="Leelawadee UI"/>
              </a:rPr>
              <a:t>คำสำคัญ: Pose Tracking, Computer Animation, Motion Analysis, Real-time Interaction, Temporal Filtering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577840" cy="354969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ศึกษาโจทย์การติดตามท่าออกกำลังกายแบบเรียลไทม์ในมุมมองของ</a:t>
            </a:r>
            <a:r>
              <a:rPr dirty="0"/>
              <a:t> Computer Animation </a:t>
            </a:r>
            <a:r>
              <a:rPr dirty="0" err="1"/>
              <a:t>ไม่ใช่แค่การจำแนกภาพจากกล้อง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pose landmark </a:t>
            </a:r>
            <a:r>
              <a:rPr dirty="0" err="1"/>
              <a:t>เป็นโครงกระดูกแบบย่อ</a:t>
            </a:r>
            <a:r>
              <a:rPr dirty="0"/>
              <a:t> </a:t>
            </a:r>
            <a:r>
              <a:rPr dirty="0" err="1"/>
              <a:t>และตีความท่าออกกำลังกายเป็นการเปลี่ยนผ่านระหว่าง</a:t>
            </a:r>
            <a:r>
              <a:rPr dirty="0"/>
              <a:t> key poses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เปรียบเทียบวิธี</a:t>
            </a:r>
            <a:r>
              <a:rPr dirty="0"/>
              <a:t> baseline </a:t>
            </a:r>
            <a:r>
              <a:rPr dirty="0" err="1"/>
              <a:t>แบบ</a:t>
            </a:r>
            <a:r>
              <a:rPr dirty="0"/>
              <a:t> threshold </a:t>
            </a:r>
            <a:r>
              <a:rPr dirty="0" err="1"/>
              <a:t>ตรง</a:t>
            </a:r>
            <a:r>
              <a:rPr dirty="0"/>
              <a:t> ๆ </a:t>
            </a:r>
            <a:r>
              <a:rPr dirty="0" err="1"/>
              <a:t>กับวิธี</a:t>
            </a:r>
            <a:r>
              <a:rPr dirty="0"/>
              <a:t> proposed </a:t>
            </a:r>
            <a:r>
              <a:rPr dirty="0" err="1"/>
              <a:t>ที่เพิ่ม</a:t>
            </a:r>
            <a:r>
              <a:rPr dirty="0"/>
              <a:t> confidence-aware side lock </a:t>
            </a:r>
            <a:r>
              <a:rPr dirty="0" err="1"/>
              <a:t>และ</a:t>
            </a:r>
            <a:r>
              <a:rPr dirty="0"/>
              <a:t> temporal filtering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วัดผลด้วย</a:t>
            </a:r>
            <a:r>
              <a:rPr dirty="0"/>
              <a:t> runtime, memory, repetition-count accuracy </a:t>
            </a:r>
            <a:r>
              <a:rPr dirty="0" err="1"/>
              <a:t>และ</a:t>
            </a:r>
            <a:r>
              <a:rPr dirty="0"/>
              <a:t> temporal stability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จัดทำ</a:t>
            </a:r>
            <a:r>
              <a:rPr dirty="0"/>
              <a:t> artifact </a:t>
            </a:r>
            <a:r>
              <a:rPr dirty="0" err="1"/>
              <a:t>ที่ทำซ้ำได้จริง</a:t>
            </a:r>
            <a:r>
              <a:rPr dirty="0"/>
              <a:t> </a:t>
            </a:r>
            <a:r>
              <a:rPr dirty="0" err="1"/>
              <a:t>พร้อม</a:t>
            </a:r>
            <a:r>
              <a:rPr dirty="0"/>
              <a:t> live demo, benchmark, tests </a:t>
            </a:r>
            <a:r>
              <a:rPr dirty="0" err="1"/>
              <a:t>และเอกสารส่งงาน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0E0F1-F9B6-985B-2FEE-9DD5E57CA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9D6CE-E4DF-74D9-5B8D-4EC52BA2D3FF}"/>
              </a:ext>
            </a:extLst>
          </p:cNvPr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A04608-93EA-5AC8-C89C-4F5BCE1AB400}"/>
              </a:ext>
            </a:extLst>
          </p:cNvPr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425000-EC5B-F211-3EF7-817EE9A2BC18}"/>
              </a:ext>
            </a:extLst>
          </p:cNvPr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31B9FE-D93C-3B00-8D47-297D2D977F0B}"/>
              </a:ext>
            </a:extLst>
          </p:cNvPr>
          <p:cNvSpPr txBox="1"/>
          <p:nvPr/>
        </p:nvSpPr>
        <p:spPr>
          <a:xfrm>
            <a:off x="457200" y="1581912"/>
            <a:ext cx="374903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b="1" dirty="0">
                <a:solidFill>
                  <a:srgbClr val="006D77"/>
                </a:solidFill>
                <a:latin typeface="Leelawadee UI"/>
              </a:rPr>
              <a:t>เกี่ยวข้องกับ 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Computer Animation</a:t>
            </a:r>
            <a:r>
              <a:rPr lang="th-TH" sz="1800" b="1" dirty="0">
                <a:solidFill>
                  <a:srgbClr val="006D77"/>
                </a:solidFill>
                <a:latin typeface="Leelawadee UI"/>
              </a:rPr>
              <a:t> อย่างไร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F21A76-057F-716E-8022-7797B8E67B3A}"/>
              </a:ext>
            </a:extLst>
          </p:cNvPr>
          <p:cNvSpPr txBox="1"/>
          <p:nvPr/>
        </p:nvSpPr>
        <p:spPr>
          <a:xfrm>
            <a:off x="548640" y="2341295"/>
            <a:ext cx="10552176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มองร่างกายผู้ใช้เป็นโครงสร้างแบบ </a:t>
            </a:r>
            <a:r>
              <a:rPr lang="en-US" dirty="0"/>
              <a:t>skeleton </a:t>
            </a:r>
            <a:r>
              <a:rPr lang="th-TH" dirty="0"/>
              <a:t>ที่มีข้อต่อสำคัญ เช่น ไหล่ ศอก และข้อมือ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ติดตามการเปลี่ยนของ </a:t>
            </a:r>
            <a:r>
              <a:rPr lang="en-US" dirty="0"/>
              <a:t>pose </a:t>
            </a:r>
            <a:r>
              <a:rPr lang="th-TH" dirty="0"/>
              <a:t>ตามเวลา เหมือนงาน </a:t>
            </a:r>
            <a:r>
              <a:rPr lang="en-US" dirty="0"/>
              <a:t>motion analysis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แปลงการเคลื่อนไหวเป็น </a:t>
            </a:r>
            <a:r>
              <a:rPr lang="en-US" dirty="0"/>
              <a:t>key poses, stage transitions </a:t>
            </a:r>
            <a:r>
              <a:rPr lang="th-TH" dirty="0"/>
              <a:t>และ </a:t>
            </a:r>
            <a:r>
              <a:rPr lang="en-US" dirty="0"/>
              <a:t>progress </a:t>
            </a:r>
            <a:r>
              <a:rPr lang="th-TH" dirty="0"/>
              <a:t>ของท่า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เชื่อมโยงกับ </a:t>
            </a:r>
            <a:r>
              <a:rPr lang="en-US" dirty="0" err="1"/>
              <a:t>markerless</a:t>
            </a:r>
            <a:r>
              <a:rPr lang="en-US" dirty="0"/>
              <a:t> motion capture </a:t>
            </a:r>
            <a:r>
              <a:rPr lang="th-TH" dirty="0"/>
              <a:t>เพราะใช้กล้องและ </a:t>
            </a:r>
            <a:r>
              <a:rPr lang="en-US" dirty="0"/>
              <a:t>pose landmarks </a:t>
            </a:r>
            <a:r>
              <a:rPr lang="th-TH" dirty="0"/>
              <a:t>แทน </a:t>
            </a:r>
            <a:r>
              <a:rPr lang="en-US" dirty="0"/>
              <a:t>marker </a:t>
            </a:r>
            <a:r>
              <a:rPr lang="th-TH" dirty="0"/>
              <a:t>จริง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ให้ความสำคัญกับ </a:t>
            </a:r>
            <a:r>
              <a:rPr lang="en-US" dirty="0"/>
              <a:t>temporal stability </a:t>
            </a:r>
            <a:r>
              <a:rPr lang="th-TH" dirty="0"/>
              <a:t>และ </a:t>
            </a:r>
            <a:r>
              <a:rPr lang="en-US" dirty="0"/>
              <a:t>jitter reduction </a:t>
            </a:r>
            <a:r>
              <a:rPr lang="th-TH" dirty="0"/>
              <a:t>เพื่อให้ </a:t>
            </a:r>
            <a:r>
              <a:rPr lang="en-US" dirty="0"/>
              <a:t>motion tracking </a:t>
            </a:r>
            <a:r>
              <a:rPr lang="th-TH" dirty="0"/>
              <a:t>นิ่งขึ้น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มีการเปรียบเทียบ </a:t>
            </a:r>
            <a:r>
              <a:rPr lang="en-US" dirty="0"/>
              <a:t>baseline </a:t>
            </a:r>
            <a:r>
              <a:rPr lang="th-TH" dirty="0"/>
              <a:t>กับ </a:t>
            </a:r>
            <a:r>
              <a:rPr lang="en-US" dirty="0"/>
              <a:t>proposed </a:t>
            </a:r>
            <a:r>
              <a:rPr lang="th-TH" dirty="0"/>
              <a:t>แบบงาน </a:t>
            </a:r>
            <a:r>
              <a:rPr lang="en-US" dirty="0"/>
              <a:t>animation systems </a:t>
            </a:r>
            <a:r>
              <a:rPr lang="th-TH" dirty="0"/>
              <a:t>และ </a:t>
            </a:r>
            <a:r>
              <a:rPr lang="en-US" dirty="0"/>
              <a:t>engineering experiment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ดังนั้นแม้จะเป็นเว็บออกกำลังกาย แต่แก่นของ</a:t>
            </a:r>
            <a:r>
              <a:rPr lang="th-TH" dirty="0" err="1"/>
              <a:t>โปรเจกต์</a:t>
            </a:r>
            <a:r>
              <a:rPr lang="th-TH" dirty="0"/>
              <a:t>คือ </a:t>
            </a:r>
            <a:r>
              <a:rPr lang="en-US" dirty="0"/>
              <a:t>real-time motion interpretation </a:t>
            </a:r>
            <a:r>
              <a:rPr lang="th-TH" dirty="0"/>
              <a:t>ซึ่งอยู่ในสาย </a:t>
            </a:r>
            <a:r>
              <a:rPr lang="en-US" dirty="0"/>
              <a:t>Computer Animation </a:t>
            </a:r>
            <a:r>
              <a:rPr lang="th-TH" dirty="0"/>
              <a:t>โดยตรง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endParaRPr lang="th-TH" dirty="0"/>
          </a:p>
        </p:txBody>
      </p:sp>
    </p:spTree>
    <p:extLst>
      <p:ext uri="{BB962C8B-B14F-4D97-AF65-F5344CB8AC3E}">
        <p14:creationId xmlns:p14="http://schemas.microsoft.com/office/powerpoint/2010/main" val="3018895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นิยามปัญหาเชิงรูปนัย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1737360"/>
            <a:ext cx="5928360" cy="3098284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Input: </a:t>
            </a:r>
            <a:r>
              <a:rPr lang="th-TH" dirty="0"/>
              <a:t>รับภาพจากกล้อง</a:t>
            </a:r>
            <a:r>
              <a:rPr lang="en-US" dirty="0"/>
              <a:t> -&gt; </a:t>
            </a:r>
            <a:r>
              <a:rPr lang="th-TH" dirty="0"/>
              <a:t>ใช้ </a:t>
            </a:r>
            <a:r>
              <a:rPr lang="en-US" dirty="0"/>
              <a:t>pose estimation </a:t>
            </a:r>
            <a:r>
              <a:rPr lang="th-TH" dirty="0"/>
              <a:t>หา </a:t>
            </a:r>
            <a:r>
              <a:rPr lang="en-US" dirty="0"/>
              <a:t>landmark </a:t>
            </a:r>
            <a:r>
              <a:rPr lang="th-TH" dirty="0"/>
              <a:t>ของข้อต่อ</a:t>
            </a:r>
            <a:r>
              <a:rPr lang="en-US" dirty="0"/>
              <a:t>, </a:t>
            </a:r>
            <a:r>
              <a:rPr lang="th-TH" dirty="0"/>
              <a:t>คำนวณมุมและติดตาม </a:t>
            </a:r>
            <a:r>
              <a:rPr lang="en-US" dirty="0"/>
              <a:t>motion over time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Output: </a:t>
            </a:r>
            <a:r>
              <a:rPr dirty="0" err="1"/>
              <a:t>จำนวนครั้ง</a:t>
            </a:r>
            <a:r>
              <a:rPr dirty="0"/>
              <a:t>, stage </a:t>
            </a:r>
            <a:r>
              <a:rPr dirty="0" err="1"/>
              <a:t>ปัจจุบัน</a:t>
            </a:r>
            <a:r>
              <a:rPr dirty="0"/>
              <a:t>, progress percentage </a:t>
            </a:r>
            <a:r>
              <a:rPr dirty="0" err="1"/>
              <a:t>และภาพ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Constraints: </a:t>
            </a:r>
            <a:r>
              <a:rPr dirty="0" err="1"/>
              <a:t>ต้องตอบสนองแบบ</a:t>
            </a:r>
            <a:r>
              <a:rPr dirty="0"/>
              <a:t> interactive, </a:t>
            </a:r>
            <a:r>
              <a:rPr dirty="0" err="1"/>
              <a:t>ทนต่อ</a:t>
            </a:r>
            <a:r>
              <a:rPr dirty="0"/>
              <a:t> occlusion, </a:t>
            </a:r>
            <a:r>
              <a:rPr dirty="0" err="1"/>
              <a:t>ลด</a:t>
            </a:r>
            <a:r>
              <a:rPr dirty="0"/>
              <a:t> threshold chatter </a:t>
            </a:r>
            <a:r>
              <a:rPr dirty="0" err="1"/>
              <a:t>และทำงานได้แบบ</a:t>
            </a:r>
            <a:r>
              <a:rPr dirty="0"/>
              <a:t> deterministic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1: </a:t>
            </a:r>
            <a:r>
              <a:rPr dirty="0" err="1"/>
              <a:t>จุดกลับตัวของท่ามี</a:t>
            </a:r>
            <a:r>
              <a:rPr dirty="0"/>
              <a:t> noise </a:t>
            </a:r>
            <a:r>
              <a:rPr dirty="0" err="1"/>
              <a:t>ทำให้เกิดนับซ้ำหรือหลุดนับ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2: </a:t>
            </a:r>
            <a:r>
              <a:rPr dirty="0" err="1"/>
              <a:t>การสลับเลือกแขนซ้ายขวาบ่อยเกินไปทำให้การตีความ</a:t>
            </a:r>
            <a:r>
              <a:rPr dirty="0"/>
              <a:t> motion </a:t>
            </a:r>
            <a:r>
              <a:rPr dirty="0" err="1"/>
              <a:t>ไม่นิ่ง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3: </a:t>
            </a:r>
            <a:r>
              <a:rPr dirty="0" err="1"/>
              <a:t>ต้องทำให้</a:t>
            </a:r>
            <a:r>
              <a:rPr dirty="0"/>
              <a:t> feedback </a:t>
            </a:r>
            <a:r>
              <a:rPr dirty="0" err="1"/>
              <a:t>เข้าใจง่ายสำหรับผู้ใช้แบบ</a:t>
            </a:r>
            <a:r>
              <a:rPr dirty="0"/>
              <a:t>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22008" y="1714499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Motion Primitive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ที่ใช้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22008" y="2450590"/>
            <a:ext cx="4663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dirty="0" err="1">
                <a:solidFill>
                  <a:srgbClr val="323A46"/>
                </a:solidFill>
                <a:latin typeface="Leelawadee UI"/>
              </a:rPr>
              <a:t>ใช้ท่า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bicep curl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เป็นตัวแทนของ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articulated motion primitive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สำหรับวัด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baseline/proposed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อย่างยุติธรรม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ส่วน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live app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ขยาย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framework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เดียวกันไปยัง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6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ท่าออกกำลังกาย</a:t>
            </a:r>
            <a:endParaRPr sz="17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22008" y="35648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Visualization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ที่ส่งพร้อมงาน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68312" y="3931918"/>
            <a:ext cx="420624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หน้าเว็บ</a:t>
            </a:r>
            <a:r>
              <a:rPr dirty="0"/>
              <a:t> Flask </a:t>
            </a:r>
            <a:r>
              <a:rPr dirty="0" err="1"/>
              <a:t>แบบ</a:t>
            </a:r>
            <a:r>
              <a:rPr dirty="0"/>
              <a:t> live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demo video </a:t>
            </a:r>
            <a:r>
              <a:rPr dirty="0" err="1"/>
              <a:t>แบบ</a:t>
            </a:r>
            <a:r>
              <a:rPr dirty="0"/>
              <a:t> side-by-side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plots </a:t>
            </a:r>
            <a:r>
              <a:rPr dirty="0" err="1"/>
              <a:t>สำหรับ</a:t>
            </a:r>
            <a:r>
              <a:rPr dirty="0"/>
              <a:t> runtime </a:t>
            </a:r>
            <a:r>
              <a:rPr dirty="0" err="1"/>
              <a:t>และ</a:t>
            </a:r>
            <a:r>
              <a:rPr dirty="0"/>
              <a:t> stability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141820"/>
                </a:solidFill>
                <a:latin typeface="Leelawadee UI"/>
              </a:rPr>
              <a:t>Baseline, Proposed </a:t>
            </a:r>
            <a:r>
              <a:rPr sz="2400" b="1" dirty="0" err="1">
                <a:solidFill>
                  <a:srgbClr val="141820"/>
                </a:solidFill>
                <a:latin typeface="Leelawadee UI"/>
              </a:rPr>
              <a:t>และบริบท</a:t>
            </a:r>
            <a:r>
              <a:rPr sz="2400" b="1" dirty="0">
                <a:solidFill>
                  <a:srgbClr val="141820"/>
                </a:solidFill>
                <a:latin typeface="Leelawadee UI"/>
              </a:rPr>
              <a:t> SOTA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วิธี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แนวคิดหลัก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จุดเด่น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ข้อจำกัด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ใช้ elbow angle + threshold นับตรง 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ง่ายและ deterministic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เปราะกับ jitter และ occlusion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เพิ่ม confidence-aware side lock + EMA smoothing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นิ่งขึ้นและ benchmark เร็วกว่า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ยังเป็น handcrafted 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SOTA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โมเดล temporal neural / action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จับ sequence context ได้มากกว่า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ใช้</a:t>
                      </a:r>
                      <a:r>
                        <a:rPr sz="1100" b="0" dirty="0">
                          <a:solidFill>
                            <a:srgbClr val="323A46"/>
                          </a:solidFill>
                          <a:latin typeface="Leelawadee UI"/>
                        </a:rPr>
                        <a:t> compute </a:t>
                      </a:r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สูงและอธิบายยากกว่า</a:t>
                      </a:r>
                      <a:endParaRPr sz="1100" b="0" dirty="0">
                        <a:solidFill>
                          <a:srgbClr val="323A46"/>
                        </a:solidFill>
                        <a:latin typeface="Leelawadee U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343400"/>
            <a:ext cx="100584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ทั้ง</a:t>
            </a:r>
            <a:r>
              <a:rPr dirty="0"/>
              <a:t> baseline </a:t>
            </a:r>
            <a:r>
              <a:rPr dirty="0" err="1"/>
              <a:t>และ</a:t>
            </a:r>
            <a:r>
              <a:rPr dirty="0"/>
              <a:t> proposed </a:t>
            </a:r>
            <a:r>
              <a:rPr dirty="0" err="1"/>
              <a:t>ใช้</a:t>
            </a:r>
            <a:r>
              <a:rPr dirty="0"/>
              <a:t> input/output </a:t>
            </a:r>
            <a:r>
              <a:rPr dirty="0" err="1"/>
              <a:t>แบบเดียวกัน</a:t>
            </a:r>
            <a:r>
              <a:rPr dirty="0"/>
              <a:t> </a:t>
            </a:r>
            <a:r>
              <a:rPr dirty="0" err="1"/>
              <a:t>จึงเปรียบเทียบกันได้ยุติธรรม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งานนี้ไม่ได้อ้างว่าเหนือกว่า</a:t>
            </a:r>
            <a:r>
              <a:rPr dirty="0"/>
              <a:t> SOTA </a:t>
            </a:r>
            <a:r>
              <a:rPr dirty="0" err="1"/>
              <a:t>แต่แสดง</a:t>
            </a:r>
            <a:r>
              <a:rPr dirty="0"/>
              <a:t> improvement </a:t>
            </a:r>
            <a:r>
              <a:rPr dirty="0" err="1"/>
              <a:t>ที่วัดซ้ำได้จริงเหนือ</a:t>
            </a:r>
            <a:r>
              <a:rPr dirty="0"/>
              <a:t> baseline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จุดเน้นของ</a:t>
            </a:r>
            <a:r>
              <a:rPr dirty="0"/>
              <a:t> proposed </a:t>
            </a:r>
            <a:r>
              <a:rPr dirty="0" err="1"/>
              <a:t>คือคุณค่าทางวิศวกรรม</a:t>
            </a:r>
            <a:r>
              <a:rPr dirty="0"/>
              <a:t>: </a:t>
            </a:r>
            <a:r>
              <a:rPr dirty="0" err="1"/>
              <a:t>เสถียรขึ้นโดยยังอธิบายการทำงานได้ง่าย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แนวคิดของวิธี Proposed และ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6665976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คำนวณ</a:t>
            </a:r>
            <a:r>
              <a:rPr dirty="0"/>
              <a:t> confidence </a:t>
            </a:r>
            <a:r>
              <a:rPr dirty="0" err="1"/>
              <a:t>ของแขนซ้าย</a:t>
            </a:r>
            <a:r>
              <a:rPr dirty="0"/>
              <a:t>/</a:t>
            </a:r>
            <a:r>
              <a:rPr dirty="0" err="1"/>
              <a:t>ขวาจาก</a:t>
            </a:r>
            <a:r>
              <a:rPr dirty="0"/>
              <a:t> visibility </a:t>
            </a:r>
            <a:r>
              <a:rPr dirty="0" err="1"/>
              <a:t>และตำแหน่งบนหน้าจอ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ถ้าแขนที่</a:t>
            </a:r>
            <a:r>
              <a:rPr dirty="0"/>
              <a:t> lock </a:t>
            </a:r>
            <a:r>
              <a:rPr dirty="0" err="1"/>
              <a:t>ไว้ยังน่าเชื่อถือ</a:t>
            </a:r>
            <a:r>
              <a:rPr dirty="0"/>
              <a:t> </a:t>
            </a:r>
            <a:r>
              <a:rPr dirty="0" err="1"/>
              <a:t>ให้ใช้แขนนั้นต่อเพื่อลด</a:t>
            </a:r>
            <a:r>
              <a:rPr dirty="0"/>
              <a:t> arm flapping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exponential moving average </a:t>
            </a:r>
            <a:r>
              <a:rPr dirty="0" err="1"/>
              <a:t>เพื่อลด</a:t>
            </a:r>
            <a:r>
              <a:rPr dirty="0"/>
              <a:t> noise </a:t>
            </a:r>
            <a:r>
              <a:rPr dirty="0" err="1"/>
              <a:t>ของ</a:t>
            </a:r>
            <a:r>
              <a:rPr dirty="0"/>
              <a:t> elbow angle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hysteresis thresholds </a:t>
            </a:r>
            <a:r>
              <a:rPr dirty="0" err="1"/>
              <a:t>เพื่อตัดสิน</a:t>
            </a:r>
            <a:r>
              <a:rPr dirty="0"/>
              <a:t> stage </a:t>
            </a:r>
            <a:r>
              <a:rPr dirty="0" err="1"/>
              <a:t>และนับ</a:t>
            </a:r>
            <a:r>
              <a:rPr dirty="0"/>
              <a:t> repetition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ให้</a:t>
            </a:r>
            <a:r>
              <a:rPr dirty="0"/>
              <a:t> output </a:t>
            </a:r>
            <a:r>
              <a:rPr dirty="0" err="1"/>
              <a:t>แบบเดียวกับ</a:t>
            </a:r>
            <a:r>
              <a:rPr dirty="0"/>
              <a:t> baseline: count, stage, angle </a:t>
            </a:r>
            <a:r>
              <a:rPr dirty="0" err="1"/>
              <a:t>และ</a:t>
            </a:r>
            <a:r>
              <a:rPr dirty="0"/>
              <a:t>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687484"/>
                </a:solidFill>
                <a:latin typeface="Leelawadee UI"/>
              </a:rPr>
              <a:t>Complexity: ทั้ง baseline และ proposed เป็น O(1) time และ O(1) memory ต่อเฟรม ความต่างอยู่ที่การจัดการ state ให้เสถียรกว่าเดิม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0" y="1600200"/>
            <a:ext cx="10966270" cy="267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971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รายละเอียดการพัฒนา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705856" cy="233910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ระบบ</a:t>
            </a:r>
            <a:r>
              <a:rPr dirty="0"/>
              <a:t> live </a:t>
            </a:r>
            <a:r>
              <a:rPr dirty="0" err="1"/>
              <a:t>ใช้</a:t>
            </a:r>
            <a:r>
              <a:rPr dirty="0"/>
              <a:t> Flask + OpenCV + </a:t>
            </a:r>
            <a:r>
              <a:rPr dirty="0" err="1"/>
              <a:t>MediaPipe</a:t>
            </a:r>
            <a:r>
              <a:rPr dirty="0"/>
              <a:t> + NumPy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ส่วน</a:t>
            </a:r>
            <a:r>
              <a:rPr dirty="0"/>
              <a:t> benchmark </a:t>
            </a:r>
            <a:r>
              <a:rPr dirty="0" err="1"/>
              <a:t>แยกไว้ใน</a:t>
            </a:r>
            <a:r>
              <a:rPr dirty="0"/>
              <a:t> `</a:t>
            </a:r>
            <a:r>
              <a:rPr dirty="0" err="1"/>
              <a:t>src</a:t>
            </a:r>
            <a:r>
              <a:rPr dirty="0"/>
              <a:t>/algorithms/` </a:t>
            </a:r>
            <a:r>
              <a:rPr dirty="0" err="1"/>
              <a:t>เพื่อวัด</a:t>
            </a:r>
            <a:r>
              <a:rPr dirty="0"/>
              <a:t> baseline/proposed </a:t>
            </a:r>
            <a:r>
              <a:rPr dirty="0" err="1"/>
              <a:t>โดยไม่ต้องเปิดกล้อง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state </a:t>
            </a:r>
            <a:r>
              <a:rPr dirty="0" err="1"/>
              <a:t>ที่ใช้มี</a:t>
            </a:r>
            <a:r>
              <a:rPr dirty="0"/>
              <a:t> counter, stage, active side, </a:t>
            </a:r>
            <a:r>
              <a:rPr dirty="0" err="1"/>
              <a:t>ค่า</a:t>
            </a:r>
            <a:r>
              <a:rPr dirty="0"/>
              <a:t> EMA </a:t>
            </a:r>
            <a:r>
              <a:rPr dirty="0" err="1"/>
              <a:t>และ</a:t>
            </a:r>
            <a:r>
              <a:rPr dirty="0"/>
              <a:t> side-lock timer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เพิ่ม</a:t>
            </a:r>
            <a:r>
              <a:rPr dirty="0"/>
              <a:t> pipeline </a:t>
            </a:r>
            <a:r>
              <a:rPr dirty="0" err="1"/>
              <a:t>ข้อมูลจริงด้วย</a:t>
            </a:r>
            <a:r>
              <a:rPr dirty="0"/>
              <a:t> `tools/collect_mocap.py` </a:t>
            </a:r>
            <a:r>
              <a:rPr dirty="0" err="1"/>
              <a:t>และ</a:t>
            </a:r>
            <a:r>
              <a:rPr dirty="0"/>
              <a:t> `experiments/evaluate_recorded_sequence.py`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94576" y="172821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โครงสร้างไฟล์สำคัญ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49440" y="2075688"/>
            <a:ext cx="4572000" cy="32918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`app.py`, `camera.py`, `exercises/`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/algorithms/baseline.py`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/algorithms/proposed.py`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`experiments/benchmark.py`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`visualization/animate_results.py`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`tests/test_simulation.py`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5888736" cy="327269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Scaling benchmark </a:t>
            </a:r>
            <a:r>
              <a:rPr dirty="0" err="1"/>
              <a:t>ใช้ข้อมูลสังเคราะห์</a:t>
            </a:r>
            <a:r>
              <a:rPr dirty="0"/>
              <a:t> 3 </a:t>
            </a:r>
            <a:r>
              <a:rPr dirty="0" err="1"/>
              <a:t>ขนาด</a:t>
            </a:r>
            <a:r>
              <a:rPr dirty="0"/>
              <a:t>: 1k, 10k </a:t>
            </a:r>
            <a:r>
              <a:rPr dirty="0" err="1"/>
              <a:t>และ</a:t>
            </a:r>
            <a:r>
              <a:rPr dirty="0"/>
              <a:t> 100k frames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ตัวสร้างข้อมูลเพิ่มทั้ง</a:t>
            </a:r>
            <a:r>
              <a:rPr dirty="0"/>
              <a:t> angle noise </a:t>
            </a:r>
            <a:r>
              <a:rPr dirty="0" err="1"/>
              <a:t>และ</a:t>
            </a:r>
            <a:r>
              <a:rPr dirty="0"/>
              <a:t> visibility dropout </a:t>
            </a:r>
            <a:r>
              <a:rPr dirty="0" err="1"/>
              <a:t>เพื่อทดสอบ</a:t>
            </a:r>
            <a:r>
              <a:rPr dirty="0"/>
              <a:t> temporal robustness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ข้อมูลจริงรองรับผ่านการอัด</a:t>
            </a:r>
            <a:r>
              <a:rPr dirty="0"/>
              <a:t> landmark CSV </a:t>
            </a:r>
            <a:r>
              <a:rPr dirty="0" err="1"/>
              <a:t>จาก</a:t>
            </a:r>
            <a:r>
              <a:rPr dirty="0"/>
              <a:t> webcam </a:t>
            </a:r>
            <a:r>
              <a:rPr dirty="0" err="1"/>
              <a:t>แล้ว</a:t>
            </a:r>
            <a:r>
              <a:rPr dirty="0"/>
              <a:t> replay </a:t>
            </a:r>
            <a:r>
              <a:rPr dirty="0" err="1"/>
              <a:t>เพื่อประเมินซ้ำ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Metrics </a:t>
            </a:r>
            <a:r>
              <a:rPr dirty="0" err="1"/>
              <a:t>ที่ใช้</a:t>
            </a:r>
            <a:r>
              <a:rPr dirty="0"/>
              <a:t>: total runtime, </a:t>
            </a:r>
            <a:r>
              <a:rPr dirty="0" err="1"/>
              <a:t>ms</a:t>
            </a:r>
            <a:r>
              <a:rPr dirty="0"/>
              <a:t>/frame, peak traced memory, repetition count error </a:t>
            </a:r>
            <a:r>
              <a:rPr dirty="0" err="1"/>
              <a:t>และ</a:t>
            </a:r>
            <a:r>
              <a:rPr dirty="0"/>
              <a:t> side-switch jitter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การตรวจสอบความถูกต้อง</a:t>
            </a:r>
            <a:r>
              <a:rPr dirty="0"/>
              <a:t>: `python -m </a:t>
            </a:r>
            <a:r>
              <a:rPr dirty="0" err="1"/>
              <a:t>unittest</a:t>
            </a:r>
            <a:r>
              <a:rPr dirty="0"/>
              <a:t> </a:t>
            </a:r>
            <a:r>
              <a:rPr dirty="0" err="1"/>
              <a:t>tests.test_simulation</a:t>
            </a:r>
            <a:r>
              <a:rPr dirty="0"/>
              <a:t>` </a:t>
            </a:r>
            <a:r>
              <a:rPr dirty="0" err="1"/>
              <a:t>ผ่าน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138160" y="182880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Synthetic Sizes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1k / 10k / 100k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15468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Real-data Path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Capture +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3154680"/>
            <a:ext cx="210312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Visualization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Plots +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8005"/>
            <a:ext cx="3206904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ผลเชิงปริมาณ</a:t>
            </a:r>
            <a:endParaRPr lang="th-TH" sz="2400" b="1" dirty="0">
              <a:solidFill>
                <a:srgbClr val="141820"/>
              </a:solidFill>
              <a:latin typeface="Leelawadee UI"/>
            </a:endParaRPr>
          </a:p>
          <a:p>
            <a:r>
              <a:rPr lang="en-US" sz="2400" b="1" dirty="0">
                <a:solidFill>
                  <a:srgbClr val="141820"/>
                </a:solidFill>
                <a:latin typeface="Leelawadee UI"/>
              </a:rPr>
              <a:t>Proposed vs baseline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Input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Speedup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เดิม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ใหม่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0.008597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25.11%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0.007160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11.01%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5.65%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480560"/>
            <a:ext cx="32918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100k </a:t>
            </a:r>
            <a:r>
              <a:rPr sz="1100" b="1" dirty="0" err="1">
                <a:solidFill>
                  <a:srgbClr val="006D77"/>
                </a:solidFill>
                <a:latin typeface="Leelawadee UI"/>
              </a:rPr>
              <a:t>ms</a:t>
            </a:r>
            <a:r>
              <a:rPr sz="1100" b="1" dirty="0">
                <a:solidFill>
                  <a:srgbClr val="006D77"/>
                </a:solidFill>
                <a:latin typeface="Leelawadee UI"/>
              </a:rPr>
              <a:t>/frame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0.006658 -&gt; 0.006281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4480560"/>
            <a:ext cx="274320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Peak Memory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0.609 -&gt; 0.531 KB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4480560"/>
            <a:ext cx="28346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Side Switches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3832 -&gt; 3334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ผลเชิงภาพและ Visualization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AFEA5E-370C-A89D-089B-8CA714274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592" y="1627632"/>
            <a:ext cx="6723119" cy="40322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อภิปรายผล ข้อจำกัด และงานต่อยอด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proposed </a:t>
            </a:r>
            <a:r>
              <a:rPr dirty="0" err="1"/>
              <a:t>ลด</a:t>
            </a:r>
            <a:r>
              <a:rPr dirty="0"/>
              <a:t> temporal jitter </a:t>
            </a:r>
            <a:r>
              <a:rPr dirty="0" err="1"/>
              <a:t>ได้โดยไม่เปลี่ยน</a:t>
            </a:r>
            <a:r>
              <a:rPr dirty="0"/>
              <a:t> interface </a:t>
            </a:r>
            <a:r>
              <a:rPr dirty="0" err="1"/>
              <a:t>และไม่ต้องพึ่ง</a:t>
            </a:r>
            <a:r>
              <a:rPr dirty="0"/>
              <a:t> learned weights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repository </a:t>
            </a:r>
            <a:r>
              <a:rPr dirty="0" err="1"/>
              <a:t>มี</a:t>
            </a:r>
            <a:r>
              <a:rPr dirty="0"/>
              <a:t> benchmark, tests, plots, demo video </a:t>
            </a:r>
            <a:r>
              <a:rPr dirty="0" err="1"/>
              <a:t>และ</a:t>
            </a:r>
            <a:r>
              <a:rPr dirty="0"/>
              <a:t> pipeline </a:t>
            </a:r>
            <a:r>
              <a:rPr dirty="0" err="1"/>
              <a:t>สำหรับข้อมูลจริงครบ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ข้อจำกัด</a:t>
            </a:r>
            <a:r>
              <a:rPr dirty="0"/>
              <a:t>: benchmark </a:t>
            </a:r>
            <a:r>
              <a:rPr dirty="0" err="1"/>
              <a:t>เชิงปริมาณยังโฟกัสที่</a:t>
            </a:r>
            <a:r>
              <a:rPr dirty="0"/>
              <a:t> motion primitive </a:t>
            </a:r>
            <a:r>
              <a:rPr dirty="0" err="1"/>
              <a:t>หลักเพียงชนิดเดียว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ข้อจำกัด</a:t>
            </a:r>
            <a:r>
              <a:rPr lang="en-US" dirty="0"/>
              <a:t>: </a:t>
            </a:r>
            <a:r>
              <a:rPr lang="th-TH" dirty="0"/>
              <a:t>ถ้า </a:t>
            </a:r>
            <a:r>
              <a:rPr lang="en-US" dirty="0"/>
              <a:t>camera </a:t>
            </a:r>
            <a:r>
              <a:rPr lang="th-TH" dirty="0"/>
              <a:t>ใกล้จะเห็นแค่ครึ่งตัวทำให้มีการ </a:t>
            </a:r>
            <a:r>
              <a:rPr lang="en-US" dirty="0"/>
              <a:t>track </a:t>
            </a:r>
            <a:r>
              <a:rPr lang="th-TH" dirty="0"/>
              <a:t>ผิดพลาด ในอนาคตอาจจะแก้ให้ให้ดีขึ้นได้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งานต่อยอด</a:t>
            </a:r>
            <a:r>
              <a:rPr dirty="0"/>
              <a:t>: </a:t>
            </a:r>
            <a:r>
              <a:rPr dirty="0" err="1"/>
              <a:t>เชื่อม</a:t>
            </a:r>
            <a:r>
              <a:rPr dirty="0"/>
              <a:t> skeleton </a:t>
            </a:r>
            <a:r>
              <a:rPr dirty="0" err="1"/>
              <a:t>เข้ากับ</a:t>
            </a:r>
            <a:r>
              <a:rPr dirty="0"/>
              <a:t> animated avatar, </a:t>
            </a:r>
            <a:r>
              <a:rPr dirty="0" err="1"/>
              <a:t>เพิ่ม</a:t>
            </a:r>
            <a:r>
              <a:rPr dirty="0"/>
              <a:t> motion curves </a:t>
            </a:r>
            <a:r>
              <a:rPr dirty="0" err="1"/>
              <a:t>และขยาย</a:t>
            </a:r>
            <a:r>
              <a:rPr dirty="0"/>
              <a:t> benchmark </a:t>
            </a:r>
            <a:r>
              <a:rPr dirty="0" err="1"/>
              <a:t>ไปทุก</a:t>
            </a:r>
            <a:r>
              <a:rPr dirty="0"/>
              <a:t> exercise mode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สรุปและการทำซ้ำงาน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2718693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โปรเจกต์นี้มีองค์ประกอบครบตาม</a:t>
            </a:r>
            <a:r>
              <a:rPr dirty="0"/>
              <a:t> rubric: baseline comparison, scaling test </a:t>
            </a:r>
            <a:r>
              <a:rPr dirty="0" err="1"/>
              <a:t>และ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แกนหลักของงานคือการตีความ</a:t>
            </a:r>
            <a:r>
              <a:rPr dirty="0"/>
              <a:t> pose tracking </a:t>
            </a:r>
            <a:r>
              <a:rPr dirty="0" err="1"/>
              <a:t>ผ่านแนวคิดด้าน</a:t>
            </a:r>
            <a:r>
              <a:rPr dirty="0"/>
              <a:t> skeleton, key poses, interpolation </a:t>
            </a:r>
            <a:r>
              <a:rPr dirty="0" err="1"/>
              <a:t>และ</a:t>
            </a:r>
            <a:r>
              <a:rPr dirty="0"/>
              <a:t> temporal continuity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คำสั่งหลัก</a:t>
            </a:r>
            <a:r>
              <a:rPr dirty="0"/>
              <a:t>: `python src/main.py --mode web`, `python src/main.py --mode benchmark`, `python src/main.py --mode demo`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คำสั่งเสริมสำหรับข้อมูลจริง</a:t>
            </a:r>
            <a:r>
              <a:rPr dirty="0"/>
              <a:t>: `python tools/collect_mocap.py` </a:t>
            </a:r>
            <a:r>
              <a:rPr dirty="0" err="1"/>
              <a:t>และ</a:t>
            </a:r>
            <a:r>
              <a:rPr dirty="0"/>
              <a:t> `python experiments/evaluate_recorded_sequence.py`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artifact </a:t>
            </a:r>
            <a:r>
              <a:rPr dirty="0" err="1"/>
              <a:t>ที่ส่งมีรายงาน</a:t>
            </a:r>
            <a:r>
              <a:rPr dirty="0"/>
              <a:t> Word, </a:t>
            </a:r>
            <a:r>
              <a:rPr dirty="0" err="1"/>
              <a:t>สไลด์ไทย</a:t>
            </a:r>
            <a:r>
              <a:rPr dirty="0"/>
              <a:t>/</a:t>
            </a:r>
            <a:r>
              <a:rPr dirty="0" err="1"/>
              <a:t>อังกฤษ</a:t>
            </a:r>
            <a:r>
              <a:rPr dirty="0"/>
              <a:t>, benchmark CSV/plot, demo video, tests </a:t>
            </a:r>
            <a:r>
              <a:rPr dirty="0" err="1"/>
              <a:t>และ</a:t>
            </a:r>
            <a:r>
              <a:rPr dirty="0"/>
              <a:t> source code </a:t>
            </a:r>
            <a:r>
              <a:rPr dirty="0" err="1"/>
              <a:t>ที่ทำซ้ำได้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เอกสารอ้างอิง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24128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Bradski, G. The OpenCV Library. Dr. Dobb's Journal of Software Tools, 2000.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Bazarevsky, V. et al. BlazePose: On-device Real-time Body Pose tracking. arXiv, 2020.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Google MediaPipe Team. MediaPipe Pose documentation.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Casiez, G., Roussel, N., and Vogel, D. 1 Euro Filter. CHI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Parent, R. Computer Animation: Algorithms and Techniques. Morgan Kaufmann,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Menache, A. Understanding Motion Capture for Computer Animation and Video Games. Morgan Kaufmann, 2010.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1318</Words>
  <Application>Microsoft Office PowerPoint</Application>
  <PresentationFormat>Widescreen</PresentationFormat>
  <Paragraphs>142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Thipbadee Ngamsukkasemsri</cp:lastModifiedBy>
  <cp:revision>11</cp:revision>
  <dcterms:created xsi:type="dcterms:W3CDTF">2013-01-27T09:14:16Z</dcterms:created>
  <dcterms:modified xsi:type="dcterms:W3CDTF">2026-04-30T06:16:41Z</dcterms:modified>
  <cp:category/>
</cp:coreProperties>
</file>