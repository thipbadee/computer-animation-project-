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8138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dirty="0" err="1">
                <a:solidFill>
                  <a:srgbClr val="141820"/>
                </a:solidFill>
                <a:latin typeface="Leelawadee UI"/>
              </a:rPr>
              <a:t>ระบบติดตามการเคลื่อนไหวท่าออกกำลังกายแบบเรียลไทม์</a:t>
            </a:r>
            <a:endParaRPr sz="2600" b="1" dirty="0">
              <a:solidFill>
                <a:srgbClr val="141820"/>
              </a:solidFill>
              <a:latin typeface="Leelawade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06D77"/>
                </a:solidFill>
                <a:latin typeface="Leelawadee UI"/>
              </a:rPr>
              <a:t>รายวิชา Computer Animation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36876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dirty="0">
                <a:solidFill>
                  <a:srgbClr val="687484"/>
                </a:solidFill>
                <a:latin typeface="Leelawadee UI"/>
              </a:rPr>
              <a:t>Department of Computer Engineering, Faculty of Engineering, Chulalongkorn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4508992"/>
            <a:ext cx="39776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th-TH" sz="1400" dirty="0">
                <a:solidFill>
                  <a:srgbClr val="323A46"/>
                </a:solidFill>
                <a:latin typeface="Leelawadee UI"/>
              </a:rPr>
              <a:t>ผู้จัดทำ:	</a:t>
            </a:r>
            <a:r>
              <a:rPr lang="en-US" sz="1400" dirty="0">
                <a:solidFill>
                  <a:srgbClr val="323A46"/>
                </a:solidFill>
                <a:latin typeface="Leelawadee UI"/>
              </a:rPr>
              <a:t>Thipbadee</a:t>
            </a:r>
            <a:r>
              <a:rPr lang="th-TH" sz="1400" dirty="0">
                <a:solidFill>
                  <a:srgbClr val="323A46"/>
                </a:solidFill>
                <a:latin typeface="Leelawadee UI"/>
              </a:rPr>
              <a:t> 	</a:t>
            </a:r>
            <a:r>
              <a:rPr lang="en-US" sz="1400" dirty="0">
                <a:solidFill>
                  <a:srgbClr val="323A46"/>
                </a:solidFill>
                <a:latin typeface="Leelawadee UI"/>
              </a:rPr>
              <a:t>Ngamsukkasemsri</a:t>
            </a:r>
          </a:p>
          <a:p>
            <a:r>
              <a:rPr lang="th-TH" sz="1400" dirty="0">
                <a:solidFill>
                  <a:srgbClr val="323A46"/>
                </a:solidFill>
                <a:latin typeface="Leelawadee UI"/>
              </a:rPr>
              <a:t>	</a:t>
            </a:r>
            <a:r>
              <a:rPr lang="en-US" sz="1400" dirty="0" err="1">
                <a:solidFill>
                  <a:srgbClr val="323A46"/>
                </a:solidFill>
                <a:latin typeface="Leelawadee UI"/>
              </a:rPr>
              <a:t>Jednipit</a:t>
            </a:r>
            <a:r>
              <a:rPr lang="en-US" sz="1400" dirty="0">
                <a:solidFill>
                  <a:srgbClr val="323A46"/>
                </a:solidFill>
                <a:latin typeface="Leelawadee UI"/>
              </a:rPr>
              <a:t> </a:t>
            </a:r>
            <a:r>
              <a:rPr lang="th-TH" sz="1400" dirty="0">
                <a:solidFill>
                  <a:srgbClr val="323A46"/>
                </a:solidFill>
                <a:latin typeface="Leelawadee UI"/>
              </a:rPr>
              <a:t>	</a:t>
            </a:r>
            <a:r>
              <a:rPr lang="en-US" sz="1400" dirty="0" err="1">
                <a:solidFill>
                  <a:srgbClr val="323A46"/>
                </a:solidFill>
                <a:latin typeface="Leelawadee UI"/>
              </a:rPr>
              <a:t>Porapakpenjul</a:t>
            </a:r>
            <a:endParaRPr lang="en-US" sz="1400" dirty="0">
              <a:solidFill>
                <a:srgbClr val="323A46"/>
              </a:solidFill>
              <a:latin typeface="Leelawade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3492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dirty="0">
                <a:solidFill>
                  <a:srgbClr val="323A46"/>
                </a:solidFill>
                <a:latin typeface="Leelawadee UI"/>
              </a:rPr>
              <a:t>GitHub: </a:t>
            </a:r>
            <a:r>
              <a:rPr sz="1400" b="0" dirty="0" err="1">
                <a:solidFill>
                  <a:srgbClr val="323A46"/>
                </a:solidFill>
                <a:latin typeface="Leelawadee UI"/>
              </a:rPr>
              <a:t>thipbadee</a:t>
            </a:r>
            <a:endParaRPr sz="1400" b="0" dirty="0">
              <a:solidFill>
                <a:srgbClr val="323A46"/>
              </a:solidFill>
              <a:latin typeface="Leelawade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th-TH" sz="1200" dirty="0">
                <a:solidFill>
                  <a:srgbClr val="687484"/>
                </a:solidFill>
                <a:latin typeface="Leelawadee UI"/>
              </a:rPr>
              <a:t>อาจารย์ผู้สอน: </a:t>
            </a:r>
            <a:r>
              <a:rPr lang="en-US" sz="1200" dirty="0" err="1">
                <a:solidFill>
                  <a:srgbClr val="687484"/>
                </a:solidFill>
                <a:latin typeface="Leelawadee UI"/>
              </a:rPr>
              <a:t>Pizzanu</a:t>
            </a:r>
            <a:r>
              <a:rPr lang="en-US" sz="1200" dirty="0">
                <a:solidFill>
                  <a:srgbClr val="687484"/>
                </a:solidFill>
                <a:latin typeface="Leelawadee UI"/>
              </a:rPr>
              <a:t> </a:t>
            </a:r>
            <a:r>
              <a:rPr lang="en-US" sz="1200" dirty="0" err="1">
                <a:solidFill>
                  <a:srgbClr val="687484"/>
                </a:solidFill>
                <a:latin typeface="Leelawadee UI"/>
              </a:rPr>
              <a:t>Kanongchaiyos</a:t>
            </a:r>
            <a:endParaRPr lang="en-US" sz="1200" dirty="0">
              <a:solidFill>
                <a:srgbClr val="687484"/>
              </a:solidFill>
              <a:latin typeface="Leelawade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49039" y="5669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87484"/>
                </a:solidFill>
                <a:latin typeface="Leelawadee UI"/>
              </a:rPr>
              <a:t>ภาคการศึกษา: Final Semester, Academic Year 2568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87484"/>
                </a:solidFill>
                <a:latin typeface="Leelawadee UI"/>
              </a:rPr>
              <a:t>คำสำคัญ: Pose Tracking, Computer Animation, Motion Analysis, Real-time Interaction, Temporal Filtering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820"/>
                </a:solidFill>
                <a:latin typeface="Leelawadee UI"/>
              </a:rPr>
              <a:t>นิยามปัญหาและวัตถุประสงค์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21031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87484"/>
                </a:solidFill>
                <a:latin typeface="Leelawadee UI"/>
              </a:rPr>
              <a:t>ครอบคลุม rubric ส่วน problem definition, baseline/proposed และเป้าหมายเชิงวิศวกรรม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577840" cy="4389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ศึกษาโจทย์การติดตามท่าออกกำลังกายแบบเรียลไทม์ในมุมมองของ</a:t>
            </a:r>
            <a:r>
              <a:rPr dirty="0"/>
              <a:t> Computer Animation </a:t>
            </a:r>
            <a:r>
              <a:rPr dirty="0" err="1"/>
              <a:t>ไม่ใช่แค่การจำแนกภาพจากกล้อง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ใช้</a:t>
            </a:r>
            <a:r>
              <a:rPr dirty="0"/>
              <a:t> pose landmark </a:t>
            </a:r>
            <a:r>
              <a:rPr dirty="0" err="1"/>
              <a:t>เป็นโครงกระดูกแบบย่อ</a:t>
            </a:r>
            <a:r>
              <a:rPr dirty="0"/>
              <a:t> </a:t>
            </a:r>
            <a:r>
              <a:rPr dirty="0" err="1"/>
              <a:t>และตีความท่าออกกำลังกายเป็นการเปลี่ยนผ่านระหว่าง</a:t>
            </a:r>
            <a:r>
              <a:rPr dirty="0"/>
              <a:t> key poses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เปรียบเทียบวิธี</a:t>
            </a:r>
            <a:r>
              <a:rPr dirty="0"/>
              <a:t> baseline </a:t>
            </a:r>
            <a:r>
              <a:rPr dirty="0" err="1"/>
              <a:t>แบบ</a:t>
            </a:r>
            <a:r>
              <a:rPr dirty="0"/>
              <a:t> threshold </a:t>
            </a:r>
            <a:r>
              <a:rPr dirty="0" err="1"/>
              <a:t>ตรง</a:t>
            </a:r>
            <a:r>
              <a:rPr dirty="0"/>
              <a:t> ๆ </a:t>
            </a:r>
            <a:r>
              <a:rPr dirty="0" err="1"/>
              <a:t>กับวิธี</a:t>
            </a:r>
            <a:r>
              <a:rPr dirty="0"/>
              <a:t> proposed </a:t>
            </a:r>
            <a:r>
              <a:rPr dirty="0" err="1"/>
              <a:t>ที่เพิ่ม</a:t>
            </a:r>
            <a:r>
              <a:rPr dirty="0"/>
              <a:t> confidence-aware side lock </a:t>
            </a:r>
            <a:r>
              <a:rPr dirty="0" err="1"/>
              <a:t>และ</a:t>
            </a:r>
            <a:r>
              <a:rPr dirty="0"/>
              <a:t> temporal filtering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วัดผลด้วย</a:t>
            </a:r>
            <a:r>
              <a:rPr dirty="0"/>
              <a:t> runtime, memory, repetition-count accuracy </a:t>
            </a:r>
            <a:r>
              <a:rPr dirty="0" err="1"/>
              <a:t>และ</a:t>
            </a:r>
            <a:r>
              <a:rPr dirty="0"/>
              <a:t> temporal stability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จัดทำ</a:t>
            </a:r>
            <a:r>
              <a:rPr dirty="0"/>
              <a:t> artifact </a:t>
            </a:r>
            <a:r>
              <a:rPr dirty="0" err="1"/>
              <a:t>ที่ทำซ้ำได้จริง</a:t>
            </a:r>
            <a:r>
              <a:rPr dirty="0"/>
              <a:t> </a:t>
            </a:r>
            <a:r>
              <a:rPr dirty="0" err="1"/>
              <a:t>พร้อม</a:t>
            </a:r>
            <a:r>
              <a:rPr dirty="0"/>
              <a:t> live demo, benchmark, tests </a:t>
            </a:r>
            <a:r>
              <a:rPr dirty="0" err="1"/>
              <a:t>และเอกสารส่งงาน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374903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th-TH" b="1" dirty="0">
                <a:solidFill>
                  <a:srgbClr val="006D77"/>
                </a:solidFill>
                <a:latin typeface="Leelawadee UI"/>
              </a:rPr>
              <a:t>เกี่ยวข้องกับ </a:t>
            </a:r>
            <a:r>
              <a:rPr lang="en-US" sz="1800" b="1" dirty="0">
                <a:solidFill>
                  <a:srgbClr val="006D77"/>
                </a:solidFill>
                <a:latin typeface="Leelawadee UI"/>
              </a:rPr>
              <a:t>Computer Animation</a:t>
            </a:r>
            <a:r>
              <a:rPr lang="th-TH" sz="1800" b="1" dirty="0">
                <a:solidFill>
                  <a:srgbClr val="006D77"/>
                </a:solidFill>
                <a:latin typeface="Leelawadee UI"/>
              </a:rPr>
              <a:t> อย่างไร</a:t>
            </a:r>
            <a:endParaRPr sz="1800" b="1" dirty="0">
              <a:solidFill>
                <a:srgbClr val="006D77"/>
              </a:solidFill>
              <a:latin typeface="Leelawade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39128" y="2606040"/>
            <a:ext cx="4572000" cy="2926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มองร่างกายเป็น</a:t>
            </a:r>
            <a:r>
              <a:rPr dirty="0"/>
              <a:t> skeleton-like structure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มี</a:t>
            </a:r>
            <a:r>
              <a:rPr dirty="0"/>
              <a:t> key poses </a:t>
            </a:r>
            <a:r>
              <a:rPr dirty="0" err="1"/>
              <a:t>และ</a:t>
            </a:r>
            <a:r>
              <a:rPr dirty="0"/>
              <a:t> stage transitions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มีการแปลง</a:t>
            </a:r>
            <a:r>
              <a:rPr dirty="0"/>
              <a:t> pose progress </a:t>
            </a:r>
            <a:r>
              <a:rPr dirty="0" err="1"/>
              <a:t>เป็นค่าต่อเนื่อง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เชื่อมโยงกับ</a:t>
            </a:r>
            <a:r>
              <a:rPr dirty="0"/>
              <a:t> motion capture </a:t>
            </a:r>
            <a:r>
              <a:rPr dirty="0" err="1"/>
              <a:t>แบบ</a:t>
            </a:r>
            <a:r>
              <a:rPr dirty="0"/>
              <a:t> </a:t>
            </a:r>
            <a:r>
              <a:rPr dirty="0" err="1"/>
              <a:t>markerless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820"/>
                </a:solidFill>
                <a:latin typeface="Leelawadee UI"/>
              </a:rPr>
              <a:t>นิยามปัญหาเชิงรูปนัย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21031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5440680" cy="4389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Input: ลำดับของ 2D joint landmarks พร้อม visibility จาก webcam หรือไฟล์ CSV ที่บันทึกไว้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Output: จำนวนครั้ง, stage ปัจจุบัน, progress percentage และภาพ visualization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Constraints: ต้องตอบสนองแบบ interactive, ทนต่อ occlusion, ลด threshold chatter และทำงานได้แบบ deterministic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ความท้าทาย 1: จุดกลับตัวของท่ามี noise ทำให้เกิดนับซ้ำหรือหลุดนับ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ความท้าทาย 2: การสลับเลือกแขนซ้ายขวาบ่อยเกินไปทำให้การตีความ motion ไม่นิ่ง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ความท้าทาย 3: ต้องทำให้ feedback เข้าใจง่ายสำหรับผู้ใช้แบบ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7830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06D77"/>
                </a:solidFill>
                <a:latin typeface="Leelawadee UI"/>
              </a:rPr>
              <a:t>Motion Primitive ที่ใช้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560319"/>
            <a:ext cx="46634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dirty="0" err="1">
                <a:solidFill>
                  <a:srgbClr val="323A46"/>
                </a:solidFill>
                <a:latin typeface="Leelawadee UI"/>
              </a:rPr>
              <a:t>ใช้ท่า</a:t>
            </a:r>
            <a:r>
              <a:rPr sz="1700" b="0" dirty="0">
                <a:solidFill>
                  <a:srgbClr val="323A46"/>
                </a:solidFill>
                <a:latin typeface="Leelawadee UI"/>
              </a:rPr>
              <a:t> bicep curl </a:t>
            </a:r>
            <a:r>
              <a:rPr sz="1700" b="0" dirty="0" err="1">
                <a:solidFill>
                  <a:srgbClr val="323A46"/>
                </a:solidFill>
                <a:latin typeface="Leelawadee UI"/>
              </a:rPr>
              <a:t>เป็นตัวแทนของ</a:t>
            </a:r>
            <a:r>
              <a:rPr sz="1700" b="0" dirty="0">
                <a:solidFill>
                  <a:srgbClr val="323A46"/>
                </a:solidFill>
                <a:latin typeface="Leelawadee UI"/>
              </a:rPr>
              <a:t> articulated motion primitive </a:t>
            </a:r>
            <a:r>
              <a:rPr sz="1700" b="0" dirty="0" err="1">
                <a:solidFill>
                  <a:srgbClr val="323A46"/>
                </a:solidFill>
                <a:latin typeface="Leelawadee UI"/>
              </a:rPr>
              <a:t>สำหรับวัด</a:t>
            </a:r>
            <a:r>
              <a:rPr sz="1700" b="0" dirty="0">
                <a:solidFill>
                  <a:srgbClr val="323A46"/>
                </a:solidFill>
                <a:latin typeface="Leelawadee UI"/>
              </a:rPr>
              <a:t> baseline/proposed </a:t>
            </a:r>
            <a:r>
              <a:rPr sz="1700" b="0" dirty="0" err="1">
                <a:solidFill>
                  <a:srgbClr val="323A46"/>
                </a:solidFill>
                <a:latin typeface="Leelawadee UI"/>
              </a:rPr>
              <a:t>อย่างยุติธรรม</a:t>
            </a:r>
            <a:r>
              <a:rPr sz="1700" b="0" dirty="0">
                <a:solidFill>
                  <a:srgbClr val="323A46"/>
                </a:solidFill>
                <a:latin typeface="Leelawadee UI"/>
              </a:rPr>
              <a:t> </a:t>
            </a:r>
            <a:r>
              <a:rPr sz="1700" b="0" dirty="0" err="1">
                <a:solidFill>
                  <a:srgbClr val="323A46"/>
                </a:solidFill>
                <a:latin typeface="Leelawadee UI"/>
              </a:rPr>
              <a:t>ส่วน</a:t>
            </a:r>
            <a:r>
              <a:rPr sz="1700" b="0" dirty="0">
                <a:solidFill>
                  <a:srgbClr val="323A46"/>
                </a:solidFill>
                <a:latin typeface="Leelawadee UI"/>
              </a:rPr>
              <a:t> live app </a:t>
            </a:r>
            <a:r>
              <a:rPr sz="1700" b="0" dirty="0" err="1">
                <a:solidFill>
                  <a:srgbClr val="323A46"/>
                </a:solidFill>
                <a:latin typeface="Leelawadee UI"/>
              </a:rPr>
              <a:t>ขยาย</a:t>
            </a:r>
            <a:r>
              <a:rPr sz="1700" b="0" dirty="0">
                <a:solidFill>
                  <a:srgbClr val="323A46"/>
                </a:solidFill>
                <a:latin typeface="Leelawadee UI"/>
              </a:rPr>
              <a:t> framework </a:t>
            </a:r>
            <a:r>
              <a:rPr sz="1700" b="0" dirty="0" err="1">
                <a:solidFill>
                  <a:srgbClr val="323A46"/>
                </a:solidFill>
                <a:latin typeface="Leelawadee UI"/>
              </a:rPr>
              <a:t>เดียวกันไปยัง</a:t>
            </a:r>
            <a:r>
              <a:rPr sz="1700" b="0" dirty="0">
                <a:solidFill>
                  <a:srgbClr val="323A46"/>
                </a:solidFill>
                <a:latin typeface="Leelawadee UI"/>
              </a:rPr>
              <a:t> 6 </a:t>
            </a:r>
            <a:r>
              <a:rPr sz="1700" b="0" dirty="0" err="1">
                <a:solidFill>
                  <a:srgbClr val="323A46"/>
                </a:solidFill>
                <a:latin typeface="Leelawadee UI"/>
              </a:rPr>
              <a:t>ท่าออกกำลังกาย</a:t>
            </a:r>
            <a:endParaRPr sz="1700" b="0" dirty="0">
              <a:solidFill>
                <a:srgbClr val="323A46"/>
              </a:solidFill>
              <a:latin typeface="Leelawade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3977639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06D77"/>
                </a:solidFill>
                <a:latin typeface="Leelawadee UI"/>
              </a:rPr>
              <a:t>Visualization ที่ส่งพร้อมงาน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4297680"/>
            <a:ext cx="4206240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หน้าเว็บ Flask แบบ live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demo video แบบ side-by-side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plots สำหรับ runtime และ stability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41820"/>
                </a:solidFill>
                <a:latin typeface="Leelawadee UI"/>
              </a:rPr>
              <a:t>Baseline, Proposed </a:t>
            </a:r>
            <a:r>
              <a:rPr sz="2400" b="1" dirty="0" err="1">
                <a:solidFill>
                  <a:srgbClr val="141820"/>
                </a:solidFill>
                <a:latin typeface="Leelawadee UI"/>
              </a:rPr>
              <a:t>และบริบท</a:t>
            </a:r>
            <a:r>
              <a:rPr sz="2400" b="1" dirty="0">
                <a:solidFill>
                  <a:srgbClr val="141820"/>
                </a:solidFill>
                <a:latin typeface="Leelawadee UI"/>
              </a:rPr>
              <a:t> SOTA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21031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3736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820"/>
                          </a:solidFill>
                          <a:latin typeface="Leelawadee UI"/>
                        </a:rPr>
                        <a:t>วิธี</a:t>
                      </a:r>
                    </a:p>
                  </a:txBody>
                  <a:tcPr>
                    <a:solidFill>
                      <a:srgbClr val="E8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820"/>
                          </a:solidFill>
                          <a:latin typeface="Leelawadee UI"/>
                        </a:rPr>
                        <a:t>แนวคิดหลัก</a:t>
                      </a:r>
                    </a:p>
                  </a:txBody>
                  <a:tcPr>
                    <a:solidFill>
                      <a:srgbClr val="E8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820"/>
                          </a:solidFill>
                          <a:latin typeface="Leelawadee UI"/>
                        </a:rPr>
                        <a:t>จุดเด่น</a:t>
                      </a:r>
                    </a:p>
                  </a:txBody>
                  <a:tcPr>
                    <a:solidFill>
                      <a:srgbClr val="E8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820"/>
                          </a:solidFill>
                          <a:latin typeface="Leelawadee UI"/>
                        </a:rPr>
                        <a:t>ข้อจำกัด</a:t>
                      </a:r>
                    </a:p>
                  </a:txBody>
                  <a:tcPr>
                    <a:solidFill>
                      <a:srgbClr val="E8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ใช้ elbow angle + threshold นับตรง 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ง่ายและ deterministic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เปราะกับ jitter และ occlusion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Proposed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เพิ่ม confidence-aware side lock + EMA smoothing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นิ่งขึ้นและ benchmark เร็วกว่า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ยังเป็น handcrafted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SOTA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โมเดล temporal neural / action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จับ sequence context ได้มากกว่า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323A46"/>
                          </a:solidFill>
                          <a:latin typeface="Leelawadee UI"/>
                        </a:rPr>
                        <a:t>ใช้</a:t>
                      </a:r>
                      <a:r>
                        <a:rPr sz="1100" b="0" dirty="0">
                          <a:solidFill>
                            <a:srgbClr val="323A46"/>
                          </a:solidFill>
                          <a:latin typeface="Leelawadee UI"/>
                        </a:rPr>
                        <a:t> compute </a:t>
                      </a:r>
                      <a:r>
                        <a:rPr sz="1100" b="0" dirty="0" err="1">
                          <a:solidFill>
                            <a:srgbClr val="323A46"/>
                          </a:solidFill>
                          <a:latin typeface="Leelawadee UI"/>
                        </a:rPr>
                        <a:t>สูงและอธิบายยากกว่า</a:t>
                      </a:r>
                      <a:endParaRPr sz="1100" b="0" dirty="0">
                        <a:solidFill>
                          <a:srgbClr val="323A46"/>
                        </a:solidFill>
                        <a:latin typeface="Leelawadee U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343400"/>
            <a:ext cx="10058400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ทั้ง baseline และ proposed ใช้ input/output แบบเดียวกัน จึงเปรียบเทียบกันได้ยุติธรรม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งานนี้ไม่ได้อ้างว่าเหนือกว่า SOTA แต่แสดง improvement ที่วัดซ้ำได้จริงเหนือ baseline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จุดเน้นของ proposed คือคุณค่าทางวิศวกรรม: เสถียรขึ้นโดยยังอธิบายการทำงานได้ง่าย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820"/>
                </a:solidFill>
                <a:latin typeface="Leelawadee UI"/>
              </a:rPr>
              <a:t>แนวคิดของวิธี Proposed และ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21031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029200" cy="3291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คำนวณ</a:t>
            </a:r>
            <a:r>
              <a:rPr dirty="0"/>
              <a:t> confidence </a:t>
            </a:r>
            <a:r>
              <a:rPr dirty="0" err="1"/>
              <a:t>ของแขนซ้าย</a:t>
            </a:r>
            <a:r>
              <a:rPr dirty="0"/>
              <a:t>/</a:t>
            </a:r>
            <a:r>
              <a:rPr dirty="0" err="1"/>
              <a:t>ขวาจาก</a:t>
            </a:r>
            <a:r>
              <a:rPr dirty="0"/>
              <a:t> visibility </a:t>
            </a:r>
            <a:r>
              <a:rPr dirty="0" err="1"/>
              <a:t>และตำแหน่งบนหน้าจอ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ถ้าแขนที่</a:t>
            </a:r>
            <a:r>
              <a:rPr dirty="0"/>
              <a:t> lock </a:t>
            </a:r>
            <a:r>
              <a:rPr dirty="0" err="1"/>
              <a:t>ไว้ยังน่าเชื่อถือ</a:t>
            </a:r>
            <a:r>
              <a:rPr dirty="0"/>
              <a:t> </a:t>
            </a:r>
            <a:r>
              <a:rPr dirty="0" err="1"/>
              <a:t>ให้ใช้แขนนั้นต่อเพื่อลด</a:t>
            </a:r>
            <a:r>
              <a:rPr dirty="0"/>
              <a:t> arm flapping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ใช้</a:t>
            </a:r>
            <a:r>
              <a:rPr dirty="0"/>
              <a:t> exponential moving average </a:t>
            </a:r>
            <a:r>
              <a:rPr dirty="0" err="1"/>
              <a:t>เพื่อลด</a:t>
            </a:r>
            <a:r>
              <a:rPr dirty="0"/>
              <a:t> noise </a:t>
            </a:r>
            <a:r>
              <a:rPr dirty="0" err="1"/>
              <a:t>ของ</a:t>
            </a:r>
            <a:r>
              <a:rPr dirty="0"/>
              <a:t> elbow angle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ใช้</a:t>
            </a:r>
            <a:r>
              <a:rPr dirty="0"/>
              <a:t> hysteresis thresholds </a:t>
            </a:r>
            <a:r>
              <a:rPr dirty="0" err="1"/>
              <a:t>เพื่อตัดสิน</a:t>
            </a:r>
            <a:r>
              <a:rPr dirty="0"/>
              <a:t> stage </a:t>
            </a:r>
            <a:r>
              <a:rPr dirty="0" err="1"/>
              <a:t>และนับ</a:t>
            </a:r>
            <a:r>
              <a:rPr dirty="0"/>
              <a:t> repetition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ให้</a:t>
            </a:r>
            <a:r>
              <a:rPr dirty="0"/>
              <a:t> output </a:t>
            </a:r>
            <a:r>
              <a:rPr dirty="0" err="1"/>
              <a:t>แบบเดียวกับ</a:t>
            </a:r>
            <a:r>
              <a:rPr dirty="0"/>
              <a:t> baseline: count, stage, angle </a:t>
            </a:r>
            <a:r>
              <a:rPr dirty="0" err="1"/>
              <a:t>และ</a:t>
            </a:r>
            <a:r>
              <a:rPr dirty="0"/>
              <a:t>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492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>
                <a:solidFill>
                  <a:srgbClr val="687484"/>
                </a:solidFill>
                <a:latin typeface="Leelawadee UI"/>
              </a:rPr>
              <a:t>Complexity: ทั้ง baseline และ proposed เป็น O(1) time และ O(1) memory ต่อเฟรม ความต่างอยู่ที่การจัดการ state ให้เสถียรกว่าเดิม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0" y="1600200"/>
            <a:ext cx="10966270" cy="267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71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820"/>
                </a:solidFill>
                <a:latin typeface="Leelawadee UI"/>
              </a:rPr>
              <a:t>รายละเอียดการพัฒนา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21031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5486400" cy="233910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ระบบ</a:t>
            </a:r>
            <a:r>
              <a:rPr dirty="0"/>
              <a:t> live </a:t>
            </a:r>
            <a:r>
              <a:rPr dirty="0" err="1"/>
              <a:t>ใช้</a:t>
            </a:r>
            <a:r>
              <a:rPr dirty="0"/>
              <a:t> Flask + OpenCV + </a:t>
            </a:r>
            <a:r>
              <a:rPr dirty="0" err="1"/>
              <a:t>MediaPipe</a:t>
            </a:r>
            <a:r>
              <a:rPr dirty="0"/>
              <a:t> + NumPy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ส่วน</a:t>
            </a:r>
            <a:r>
              <a:rPr dirty="0"/>
              <a:t> benchmark </a:t>
            </a:r>
            <a:r>
              <a:rPr dirty="0" err="1"/>
              <a:t>แยกไว้ใน</a:t>
            </a:r>
            <a:r>
              <a:rPr dirty="0"/>
              <a:t> `</a:t>
            </a:r>
            <a:r>
              <a:rPr dirty="0" err="1"/>
              <a:t>src</a:t>
            </a:r>
            <a:r>
              <a:rPr dirty="0"/>
              <a:t>/algorithms/` </a:t>
            </a:r>
            <a:r>
              <a:rPr dirty="0" err="1"/>
              <a:t>เพื่อวัด</a:t>
            </a:r>
            <a:r>
              <a:rPr dirty="0"/>
              <a:t> baseline/proposed </a:t>
            </a:r>
            <a:r>
              <a:rPr dirty="0" err="1"/>
              <a:t>โดยไม่ต้องเปิดกล้อง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rPr dirty="0"/>
              <a:t>state </a:t>
            </a:r>
            <a:r>
              <a:rPr dirty="0" err="1"/>
              <a:t>ที่ใช้มี</a:t>
            </a:r>
            <a:r>
              <a:rPr dirty="0"/>
              <a:t> counter, stage, active side, </a:t>
            </a:r>
            <a:r>
              <a:rPr dirty="0" err="1"/>
              <a:t>ค่า</a:t>
            </a:r>
            <a:r>
              <a:rPr dirty="0"/>
              <a:t> EMA </a:t>
            </a:r>
            <a:r>
              <a:rPr dirty="0" err="1"/>
              <a:t>และ</a:t>
            </a:r>
            <a:r>
              <a:rPr dirty="0"/>
              <a:t> side-lock timer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rPr dirty="0" err="1"/>
              <a:t>เพิ่ม</a:t>
            </a:r>
            <a:r>
              <a:rPr dirty="0"/>
              <a:t> pipeline </a:t>
            </a:r>
            <a:r>
              <a:rPr dirty="0" err="1"/>
              <a:t>ข้อมูลจริงด้วย</a:t>
            </a:r>
            <a:r>
              <a:rPr dirty="0"/>
              <a:t> `tools/collect_mocap.py` </a:t>
            </a:r>
            <a:r>
              <a:rPr dirty="0" err="1"/>
              <a:t>และ</a:t>
            </a:r>
            <a:r>
              <a:rPr dirty="0"/>
              <a:t> `experiments/evaluate_recorded_sequence.py`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7373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06D77"/>
                </a:solidFill>
                <a:latin typeface="Leelawadee UI"/>
              </a:rPr>
              <a:t>โครงสร้างไฟล์สำคัญ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057400"/>
            <a:ext cx="4572000" cy="3291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`app.py`, `camera.py`, `exercises/`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`src/algorithms/baseline.py`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`src/algorithms/proposed.py`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`experiments/benchmark.py`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`visualization/animate_results.py`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`tests/test_simulation.py`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820"/>
                </a:solidFill>
                <a:latin typeface="Leelawadee UI"/>
              </a:rP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21031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5577840" cy="4206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Scaling benchmark ใช้ข้อมูลสังเคราะห์ 3 ขนาด: 1k, 10k และ 100k frames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ตัวสร้างข้อมูลเพิ่มทั้ง angle noise และ visibility dropout เพื่อทดสอบ temporal robustness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ข้อมูลจริงรองรับผ่านการอัด landmark CSV จาก webcam แล้ว replay เพื่อประเมินซ้ำ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Metrics ที่ใช้: total runtime, ms/frame, peak traced memory, repetition count error และ side-switch jitter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การตรวจสอบความถูกต้อง: `python -m unittest tests.test_simulation` ผ่าน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828800"/>
            <a:ext cx="2377440" cy="1005840"/>
          </a:xfrm>
          <a:prstGeom prst="roundRect">
            <a:avLst/>
          </a:prstGeom>
          <a:solidFill>
            <a:srgbClr val="E8F8F9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6D77"/>
                </a:solidFill>
                <a:latin typeface="Leelawadee UI"/>
              </a:rPr>
              <a:t>Synthetic Sizes</a:t>
            </a:r>
          </a:p>
          <a:p>
            <a:pPr algn="ctr"/>
            <a:r>
              <a:rPr sz="1700" b="1">
                <a:solidFill>
                  <a:srgbClr val="141820"/>
                </a:solidFill>
                <a:latin typeface="Leelawadee UI"/>
              </a:rPr>
              <a:t>1k / 10k / 100k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1828800"/>
            <a:ext cx="2103120" cy="1005840"/>
          </a:xfrm>
          <a:prstGeom prst="roundRect">
            <a:avLst/>
          </a:prstGeom>
          <a:solidFill>
            <a:srgbClr val="E8F8F9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6D77"/>
                </a:solidFill>
                <a:latin typeface="Leelawadee UI"/>
              </a:rPr>
              <a:t>Count Error</a:t>
            </a:r>
          </a:p>
          <a:p>
            <a:pPr algn="ctr"/>
            <a:r>
              <a:rPr sz="1700" b="1">
                <a:solidFill>
                  <a:srgbClr val="141820"/>
                </a:solidFill>
                <a:latin typeface="Leelawadee UI"/>
              </a:rPr>
              <a:t>0 ทุก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154680"/>
            <a:ext cx="2377440" cy="1005840"/>
          </a:xfrm>
          <a:prstGeom prst="roundRect">
            <a:avLst/>
          </a:prstGeom>
          <a:solidFill>
            <a:srgbClr val="E8F8F9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6D77"/>
                </a:solidFill>
                <a:latin typeface="Leelawadee UI"/>
              </a:rPr>
              <a:t>Real-data Path</a:t>
            </a:r>
          </a:p>
          <a:p>
            <a:pPr algn="ctr"/>
            <a:r>
              <a:rPr sz="1700" b="1">
                <a:solidFill>
                  <a:srgbClr val="141820"/>
                </a:solidFill>
                <a:latin typeface="Leelawadee UI"/>
              </a:rPr>
              <a:t>Capture + Replay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3154680"/>
            <a:ext cx="2103120" cy="1005840"/>
          </a:xfrm>
          <a:prstGeom prst="roundRect">
            <a:avLst/>
          </a:prstGeom>
          <a:solidFill>
            <a:srgbClr val="E8F8F9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6D77"/>
                </a:solidFill>
                <a:latin typeface="Leelawadee UI"/>
              </a:rPr>
              <a:t>Visualization</a:t>
            </a:r>
          </a:p>
          <a:p>
            <a:pPr algn="ctr"/>
            <a:r>
              <a:rPr sz="1700" b="1">
                <a:solidFill>
                  <a:srgbClr val="141820"/>
                </a:solidFill>
                <a:latin typeface="Leelawadee UI"/>
              </a:rPr>
              <a:t>Plots +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8005"/>
            <a:ext cx="320690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141820"/>
                </a:solidFill>
                <a:latin typeface="Leelawadee UI"/>
              </a:rPr>
              <a:t>ผลเชิงปริมาณ</a:t>
            </a:r>
            <a:endParaRPr lang="th-TH" sz="2400" b="1" dirty="0">
              <a:solidFill>
                <a:srgbClr val="141820"/>
              </a:solidFill>
              <a:latin typeface="Leelawadee UI"/>
            </a:endParaRPr>
          </a:p>
          <a:p>
            <a:r>
              <a:rPr lang="en-US" sz="2400" b="1" dirty="0">
                <a:solidFill>
                  <a:srgbClr val="141820"/>
                </a:solidFill>
                <a:latin typeface="Leelawadee UI"/>
              </a:rPr>
              <a:t>Proposed vs baseline</a:t>
            </a:r>
            <a:endParaRPr sz="2400" b="1" dirty="0">
              <a:solidFill>
                <a:srgbClr val="141820"/>
              </a:solidFill>
              <a:latin typeface="Leelawadee U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21031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3736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820"/>
                          </a:solidFill>
                          <a:latin typeface="Leelawadee UI"/>
                        </a:rPr>
                        <a:t>Input</a:t>
                      </a:r>
                    </a:p>
                  </a:txBody>
                  <a:tcPr>
                    <a:solidFill>
                      <a:srgbClr val="E8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820"/>
                          </a:solidFill>
                          <a:latin typeface="Leelawadee UI"/>
                        </a:rPr>
                        <a:t>Baseline</a:t>
                      </a:r>
                    </a:p>
                  </a:txBody>
                  <a:tcPr>
                    <a:solidFill>
                      <a:srgbClr val="E8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820"/>
                          </a:solidFill>
                          <a:latin typeface="Leelawadee UI"/>
                        </a:rPr>
                        <a:t>Proposed</a:t>
                      </a:r>
                    </a:p>
                  </a:txBody>
                  <a:tcPr>
                    <a:solidFill>
                      <a:srgbClr val="E8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820"/>
                          </a:solidFill>
                          <a:latin typeface="Leelawadee UI"/>
                        </a:rPr>
                        <a:t>Speedup</a:t>
                      </a:r>
                    </a:p>
                  </a:txBody>
                  <a:tcPr>
                    <a:solidFill>
                      <a:srgbClr val="E8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820"/>
                          </a:solidFill>
                          <a:latin typeface="Leelawadee UI"/>
                        </a:rPr>
                        <a:t>Jitter เดิม</a:t>
                      </a:r>
                    </a:p>
                  </a:txBody>
                  <a:tcPr>
                    <a:solidFill>
                      <a:srgbClr val="E8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820"/>
                          </a:solidFill>
                          <a:latin typeface="Leelawadee UI"/>
                        </a:rPr>
                        <a:t>Jitter ใหม่</a:t>
                      </a:r>
                    </a:p>
                  </a:txBody>
                  <a:tcPr>
                    <a:solidFill>
                      <a:srgbClr val="E8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0.008597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0.006438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25.11%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0.007160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0.006372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11.01%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0.006658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0.006281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5.65%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3832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23A46"/>
                          </a:solidFill>
                          <a:latin typeface="Leelawadee UI"/>
                        </a:rPr>
                        <a:t>3334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68680" y="4480560"/>
            <a:ext cx="3291840" cy="1005840"/>
          </a:xfrm>
          <a:prstGeom prst="roundRect">
            <a:avLst/>
          </a:prstGeom>
          <a:solidFill>
            <a:srgbClr val="E8F8F9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006D77"/>
                </a:solidFill>
                <a:latin typeface="Leelawadee UI"/>
              </a:rPr>
              <a:t>100k </a:t>
            </a:r>
            <a:r>
              <a:rPr sz="1100" b="1" dirty="0" err="1">
                <a:solidFill>
                  <a:srgbClr val="006D77"/>
                </a:solidFill>
                <a:latin typeface="Leelawadee UI"/>
              </a:rPr>
              <a:t>ms</a:t>
            </a:r>
            <a:r>
              <a:rPr sz="1100" b="1" dirty="0">
                <a:solidFill>
                  <a:srgbClr val="006D77"/>
                </a:solidFill>
                <a:latin typeface="Leelawadee UI"/>
              </a:rPr>
              <a:t>/frame</a:t>
            </a:r>
          </a:p>
          <a:p>
            <a:pPr algn="ctr"/>
            <a:r>
              <a:rPr sz="1700" b="1" dirty="0">
                <a:solidFill>
                  <a:srgbClr val="141820"/>
                </a:solidFill>
                <a:latin typeface="Leelawadee UI"/>
              </a:rPr>
              <a:t>0.006658 -&gt; 0.006281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4480560"/>
            <a:ext cx="2743200" cy="1005840"/>
          </a:xfrm>
          <a:prstGeom prst="roundRect">
            <a:avLst/>
          </a:prstGeom>
          <a:solidFill>
            <a:srgbClr val="E8F8F9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6D77"/>
                </a:solidFill>
                <a:latin typeface="Leelawadee UI"/>
              </a:rPr>
              <a:t>Peak Memory</a:t>
            </a:r>
          </a:p>
          <a:p>
            <a:pPr algn="ctr"/>
            <a:r>
              <a:rPr sz="1700" b="1">
                <a:solidFill>
                  <a:srgbClr val="141820"/>
                </a:solidFill>
                <a:latin typeface="Leelawadee UI"/>
              </a:rPr>
              <a:t>0.609 -&gt; 0.531 KB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4480560"/>
            <a:ext cx="2834640" cy="1005840"/>
          </a:xfrm>
          <a:prstGeom prst="roundRect">
            <a:avLst/>
          </a:prstGeom>
          <a:solidFill>
            <a:srgbClr val="E8F8F9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6D77"/>
                </a:solidFill>
                <a:latin typeface="Leelawadee UI"/>
              </a:rPr>
              <a:t>Side Switches</a:t>
            </a:r>
          </a:p>
          <a:p>
            <a:pPr algn="ctr"/>
            <a:r>
              <a:rPr sz="1700" b="1">
                <a:solidFill>
                  <a:srgbClr val="141820"/>
                </a:solidFill>
                <a:latin typeface="Leelawadee UI"/>
              </a:rPr>
              <a:t>3832 -&gt; 3334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820"/>
                </a:solidFill>
                <a:latin typeface="Leelawadee UI"/>
              </a:rPr>
              <a:t>ผลเชิงภาพและ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21031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577840" cy="3346704"/>
          </a:xfrm>
          <a:prstGeom prst="rect">
            <a:avLst/>
          </a:prstGeom>
        </p:spPr>
      </p:pic>
      <p:pic>
        <p:nvPicPr>
          <p:cNvPr id="5" name="Picture 4" descr="demo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5029200" cy="5543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577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87484"/>
                </a:solidFill>
                <a:latin typeface="Leelawadee UI"/>
              </a:rPr>
              <a:t>ซ้าย: กราฟผล scaling benchmark จาก `experiments/results/plots.png` ขวา: เฟรมตัวอย่างจาก demo video ที่เปรียบเทียบ baseline กับ proposed แบบ side-by-side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820"/>
                </a:solidFill>
                <a:latin typeface="Leelawadee UI"/>
              </a:rPr>
              <a:t>อภิปรายผล ข้อจำกัด และงานต่อยอด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21031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332720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จุดแข็ง: proposed ลด temporal jitter ได้โดยไม่เปลี่ยน interface และไม่ต้องพึ่ง learned weights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จุดแข็ง: repository มี benchmark, tests, plots, demo video และ pipeline สำหรับข้อมูลจริงครบ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ข้อจำกัด: benchmark เชิงปริมาณยังโฟกัสที่ motion primitive หลักเพียงชนิดเดียว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ข้อจำกัด: repo ไม่ได้ commit human recording จริงไว้โดยตรง เพราะข้อมูล landmark จากผู้ใช้มีประเด็นด้าน privacy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งานต่อยอด: เชื่อม skeleton เข้ากับ animated avatar, เพิ่ม motion curves และขยาย benchmark ไปทุก exercise mode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820"/>
                </a:solidFill>
                <a:latin typeface="Leelawadee UI"/>
              </a:rPr>
              <a:t>สรุปและการทำซ้ำงาน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21031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332720" cy="4206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โปรเจกต์นี้มีองค์ประกอบครบตาม rubric: baseline comparison, scaling test และ visualization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แกนหลักของงานคือการตีความ pose tracking ผ่านแนวคิดด้าน skeleton, key poses, interpolation และ temporal continuity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คำสั่งหลัก: `python src/main.py --mode web`, `python src/main.py --mode benchmark`, `python src/main.py --mode demo`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คำสั่งเสริมสำหรับข้อมูลจริง: `python tools/collect_mocap.py` และ `python experiments/evaluate_recorded_sequence.py`</a:t>
            </a:r>
          </a:p>
          <a:p>
            <a:pPr>
              <a:spcAft>
                <a:spcPts val="800"/>
              </a:spcAft>
              <a:defRPr sz="1800">
                <a:solidFill>
                  <a:srgbClr val="323A46"/>
                </a:solidFill>
                <a:latin typeface="Leelawadee UI"/>
              </a:defRPr>
            </a:pPr>
            <a:r>
              <a:t>artifact ที่ส่งมีรายงาน Word, สไลด์ไทย/อังกฤษ, benchmark CSV/plot, demo video, tests และ source code ที่ทำซ้ำได้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820"/>
                </a:solidFill>
                <a:latin typeface="Leelawadee UI"/>
              </a:rPr>
              <a:t>เอกสารอ้างอิง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0704"/>
            <a:ext cx="21031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241280" cy="4389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Bradski, G. The OpenCV Library. Dr. Dobb's Journal of Software Tools, 2000.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Bazarevsky, V. et al. BlazePose: On-device Real-time Body Pose tracking. arXiv, 2020.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Google MediaPipe Team. MediaPipe Pose documentation.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Casiez, G., Roussel, N., and Vogel, D. 1 Euro Filter. CHI 2012.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Parent, R. Computer Animation: Algorithms and Techniques. Morgan Kaufmann, 2012.</a:t>
            </a:r>
          </a:p>
          <a:p>
            <a:pPr>
              <a:spcAft>
                <a:spcPts val="800"/>
              </a:spcAft>
              <a:defRPr sz="1700">
                <a:solidFill>
                  <a:srgbClr val="323A46"/>
                </a:solidFill>
                <a:latin typeface="Leelawadee UI"/>
              </a:defRPr>
            </a:pPr>
            <a:r>
              <a:t>Menache, A. Understanding Motion Capture for Computer Animation and Video Games. Morgan Kaufmann, 2010.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1238</Words>
  <Application>Microsoft Office PowerPoint</Application>
  <PresentationFormat>Widescreen</PresentationFormat>
  <Paragraphs>140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Leelawadee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Thipbadee Ngamsukkasemsri</cp:lastModifiedBy>
  <cp:revision>4</cp:revision>
  <dcterms:created xsi:type="dcterms:W3CDTF">2013-01-27T09:14:16Z</dcterms:created>
  <dcterms:modified xsi:type="dcterms:W3CDTF">2026-04-29T19:07:35Z</dcterms:modified>
  <cp:category/>
</cp:coreProperties>
</file>